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8" r:id="rId3"/>
    <p:sldId id="283" r:id="rId4"/>
    <p:sldId id="286" r:id="rId5"/>
    <p:sldId id="273" r:id="rId6"/>
    <p:sldId id="287" r:id="rId7"/>
    <p:sldId id="282" r:id="rId8"/>
    <p:sldId id="262" r:id="rId9"/>
    <p:sldId id="270" r:id="rId10"/>
  </p:sldIdLst>
  <p:sldSz cx="18288000" cy="10287000"/>
  <p:notesSz cx="6858000" cy="9144000"/>
  <p:embeddedFontLst>
    <p:embeddedFont>
      <p:font typeface="Poppins" pitchFamily="2" charset="77"/>
      <p:regular r:id="rId11"/>
      <p:bold r:id="rId12"/>
      <p:italic r:id="rId13"/>
      <p:boldItalic r:id="rId14"/>
    </p:embeddedFont>
    <p:embeddedFont>
      <p:font typeface="Sniglet" pitchFamily="8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2BC"/>
    <a:srgbClr val="339CB6"/>
    <a:srgbClr val="DCD2EA"/>
    <a:srgbClr val="FFEB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823" autoAdjust="0"/>
    <p:restoredTop sz="94528" autoAdjust="0"/>
  </p:normalViewPr>
  <p:slideViewPr>
    <p:cSldViewPr>
      <p:cViewPr varScale="1">
        <p:scale>
          <a:sx n="64" d="100"/>
          <a:sy n="64" d="100"/>
        </p:scale>
        <p:origin x="192" y="4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pp.swaggerhub.com/apis/student-c67-be7/api-safetrade-voucher/1.0.0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eroic-nougat-c67308.netlify.app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ergio-oliveira-br/safetrade_admin_service/actions/runs/22593616259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a-cpp-app-load-balancer-695619415.eu-west-1.elb.amazonaws.com/" TargetMode="External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2791821" y="4157133"/>
            <a:ext cx="7140770" cy="714077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994381" y="3070886"/>
            <a:ext cx="4895539" cy="5168036"/>
          </a:xfrm>
          <a:custGeom>
            <a:avLst/>
            <a:gdLst/>
            <a:ahLst/>
            <a:cxnLst/>
            <a:rect l="l" t="t" r="r" b="b"/>
            <a:pathLst>
              <a:path w="4895539" h="5168036">
                <a:moveTo>
                  <a:pt x="0" y="0"/>
                </a:moveTo>
                <a:lnTo>
                  <a:pt x="4895539" y="0"/>
                </a:lnTo>
                <a:lnTo>
                  <a:pt x="4895539" y="5168035"/>
                </a:lnTo>
                <a:lnTo>
                  <a:pt x="0" y="516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93336" y="8683539"/>
            <a:ext cx="6012263" cy="678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400" dirty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Student: Sergio Oliveira – x23170981</a:t>
            </a:r>
          </a:p>
          <a:p>
            <a:pPr algn="just">
              <a:lnSpc>
                <a:spcPts val="2659"/>
              </a:lnSpc>
            </a:pPr>
            <a:endParaRPr lang="en-US" sz="1899" dirty="0">
              <a:solidFill>
                <a:srgbClr val="1B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1577408" y="2559482"/>
            <a:ext cx="1214413" cy="121441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5">
            <a:extLst>
              <a:ext uri="{FF2B5EF4-FFF2-40B4-BE49-F238E27FC236}">
                <a16:creationId xmlns:a16="http://schemas.microsoft.com/office/drawing/2014/main" id="{5BEAD74B-D3DA-5FBE-155D-09399D663FC2}"/>
              </a:ext>
            </a:extLst>
          </p:cNvPr>
          <p:cNvSpPr txBox="1"/>
          <p:nvPr/>
        </p:nvSpPr>
        <p:spPr>
          <a:xfrm>
            <a:off x="6134794" y="3826628"/>
            <a:ext cx="9389257" cy="2332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782"/>
              </a:lnSpc>
            </a:pPr>
            <a:r>
              <a:rPr lang="en-US" sz="4800" dirty="0" err="1">
                <a:solidFill>
                  <a:srgbClr val="F292BC"/>
                </a:solidFill>
                <a:latin typeface="Sniglet"/>
                <a:ea typeface="Sniglet"/>
                <a:cs typeface="Sniglet"/>
                <a:sym typeface="Sniglet"/>
              </a:rPr>
              <a:t>SafeTrade</a:t>
            </a:r>
            <a:r>
              <a:rPr lang="en-US" sz="4800" dirty="0">
                <a:solidFill>
                  <a:srgbClr val="F292BC"/>
                </a:solidFill>
                <a:latin typeface="Sniglet"/>
                <a:ea typeface="Sniglet"/>
                <a:cs typeface="Sniglet"/>
                <a:sym typeface="Sniglet"/>
              </a:rPr>
              <a:t> Voucher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723FDCA7-314E-6BC9-7101-CB6A6F0D6856}"/>
              </a:ext>
            </a:extLst>
          </p:cNvPr>
          <p:cNvSpPr txBox="1"/>
          <p:nvPr/>
        </p:nvSpPr>
        <p:spPr>
          <a:xfrm>
            <a:off x="693336" y="2824300"/>
            <a:ext cx="12495075" cy="2332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782"/>
              </a:lnSpc>
            </a:pPr>
            <a:r>
              <a:rPr lang="en-US" sz="6600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Scalable Cloud Programming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8D41CE-A823-4BE2-037B-5EA7F1DFD734}"/>
              </a:ext>
            </a:extLst>
          </p:cNvPr>
          <p:cNvSpPr txBox="1"/>
          <p:nvPr/>
        </p:nvSpPr>
        <p:spPr>
          <a:xfrm>
            <a:off x="2743200" y="9140331"/>
            <a:ext cx="3404036" cy="444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400" dirty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Lecturer: Sahin Vikas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62533-CCAF-10E2-845A-00F33815E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0">
            <a:extLst>
              <a:ext uri="{FF2B5EF4-FFF2-40B4-BE49-F238E27FC236}">
                <a16:creationId xmlns:a16="http://schemas.microsoft.com/office/drawing/2014/main" id="{18317703-F708-C17B-C68B-649C78C2D1C1}"/>
              </a:ext>
            </a:extLst>
          </p:cNvPr>
          <p:cNvSpPr txBox="1"/>
          <p:nvPr/>
        </p:nvSpPr>
        <p:spPr>
          <a:xfrm>
            <a:off x="1211671" y="720745"/>
            <a:ext cx="14858506" cy="1040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979"/>
              </a:lnSpc>
              <a:spcBef>
                <a:spcPct val="0"/>
              </a:spcBef>
            </a:pPr>
            <a:r>
              <a:rPr lang="en-US" sz="7599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Architecture and Scalability</a:t>
            </a:r>
            <a:endParaRPr lang="en-US" sz="7599" u="none" strike="noStrike" dirty="0">
              <a:solidFill>
                <a:srgbClr val="339CB6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grpSp>
        <p:nvGrpSpPr>
          <p:cNvPr id="34" name="Group 20">
            <a:extLst>
              <a:ext uri="{FF2B5EF4-FFF2-40B4-BE49-F238E27FC236}">
                <a16:creationId xmlns:a16="http://schemas.microsoft.com/office/drawing/2014/main" id="{AF2016D6-229B-451A-0D4C-AF0BC3B879CA}"/>
              </a:ext>
            </a:extLst>
          </p:cNvPr>
          <p:cNvGrpSpPr/>
          <p:nvPr/>
        </p:nvGrpSpPr>
        <p:grpSpPr>
          <a:xfrm>
            <a:off x="16043283" y="8202517"/>
            <a:ext cx="3725622" cy="3725622"/>
            <a:chOff x="0" y="0"/>
            <a:chExt cx="812800" cy="812800"/>
          </a:xfrm>
        </p:grpSpPr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A0B7AAAD-87DD-083A-A25F-2598D1EC4CC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B709F417-66D7-F089-5076-D64B094D030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TextBox 29">
            <a:extLst>
              <a:ext uri="{FF2B5EF4-FFF2-40B4-BE49-F238E27FC236}">
                <a16:creationId xmlns:a16="http://schemas.microsoft.com/office/drawing/2014/main" id="{7297E493-885E-DEC2-D515-25AE3081236E}"/>
              </a:ext>
            </a:extLst>
          </p:cNvPr>
          <p:cNvSpPr txBox="1"/>
          <p:nvPr/>
        </p:nvSpPr>
        <p:spPr>
          <a:xfrm>
            <a:off x="2520317" y="3086100"/>
            <a:ext cx="13137575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E" sz="3200" dirty="0">
                <a:solidFill>
                  <a:srgbClr val="1B4440"/>
                </a:solidFill>
                <a:latin typeface="Poppins"/>
                <a:cs typeface="Poppins"/>
              </a:rPr>
              <a:t>Serverless architecture: Defines that there are no fixed servers limiting growth.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E" sz="3200" dirty="0">
              <a:solidFill>
                <a:srgbClr val="1B4440"/>
              </a:solidFill>
              <a:latin typeface="Poppins"/>
              <a:cs typeface="Poppi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E" sz="3200" dirty="0">
                <a:solidFill>
                  <a:srgbClr val="1B4440"/>
                </a:solidFill>
                <a:latin typeface="Poppins"/>
                <a:cs typeface="Poppins"/>
              </a:rPr>
              <a:t>Elastic Scalability: Ability to expand as required.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E" sz="3200" dirty="0">
              <a:solidFill>
                <a:srgbClr val="1B4440"/>
              </a:solidFill>
              <a:latin typeface="Poppins"/>
              <a:cs typeface="Poppi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E" sz="3200" dirty="0">
                <a:solidFill>
                  <a:srgbClr val="1B4440"/>
                </a:solidFill>
                <a:latin typeface="Poppins"/>
                <a:cs typeface="Poppins"/>
              </a:rPr>
              <a:t>Stack Decoupled: Focus on the efficiency between Processing (Lambda) and Persistence (DynamoDB).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E" sz="3200" dirty="0">
              <a:solidFill>
                <a:srgbClr val="1B4440"/>
              </a:solidFill>
              <a:latin typeface="Poppins"/>
              <a:cs typeface="Poppi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E" sz="3200" dirty="0">
                <a:solidFill>
                  <a:srgbClr val="1B4440"/>
                </a:solidFill>
                <a:latin typeface="Poppins"/>
                <a:cs typeface="Poppins"/>
              </a:rPr>
              <a:t>Event-Driven: Ready to handle events in real time.</a:t>
            </a:r>
          </a:p>
        </p:txBody>
      </p:sp>
      <p:sp>
        <p:nvSpPr>
          <p:cNvPr id="48" name="Freeform 16">
            <a:extLst>
              <a:ext uri="{FF2B5EF4-FFF2-40B4-BE49-F238E27FC236}">
                <a16:creationId xmlns:a16="http://schemas.microsoft.com/office/drawing/2014/main" id="{1BACEE05-94AA-20F3-27DE-4BCD4AA1C89B}"/>
              </a:ext>
            </a:extLst>
          </p:cNvPr>
          <p:cNvSpPr/>
          <p:nvPr/>
        </p:nvSpPr>
        <p:spPr>
          <a:xfrm>
            <a:off x="80727" y="7709954"/>
            <a:ext cx="2674626" cy="2446067"/>
          </a:xfrm>
          <a:custGeom>
            <a:avLst/>
            <a:gdLst/>
            <a:ahLst/>
            <a:cxnLst/>
            <a:rect l="l" t="t" r="r" b="b"/>
            <a:pathLst>
              <a:path w="2674626" h="2446067">
                <a:moveTo>
                  <a:pt x="0" y="0"/>
                </a:moveTo>
                <a:lnTo>
                  <a:pt x="2674626" y="0"/>
                </a:lnTo>
                <a:lnTo>
                  <a:pt x="2674626" y="2446067"/>
                </a:lnTo>
                <a:lnTo>
                  <a:pt x="0" y="2446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0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00837E-EFE7-2BFE-CB96-B1BE6970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0">
            <a:extLst>
              <a:ext uri="{FF2B5EF4-FFF2-40B4-BE49-F238E27FC236}">
                <a16:creationId xmlns:a16="http://schemas.microsoft.com/office/drawing/2014/main" id="{6F3F79A4-C984-1995-E943-E7BF47C6190E}"/>
              </a:ext>
            </a:extLst>
          </p:cNvPr>
          <p:cNvSpPr txBox="1"/>
          <p:nvPr/>
        </p:nvSpPr>
        <p:spPr>
          <a:xfrm>
            <a:off x="1211671" y="720745"/>
            <a:ext cx="6713129" cy="1040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979"/>
              </a:lnSpc>
              <a:spcBef>
                <a:spcPct val="0"/>
              </a:spcBef>
            </a:pPr>
            <a:r>
              <a:rPr lang="en-US" sz="7599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Diagram</a:t>
            </a:r>
            <a:endParaRPr lang="en-US" sz="7599" u="none" strike="noStrike" dirty="0">
              <a:solidFill>
                <a:srgbClr val="339CB6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grpSp>
        <p:nvGrpSpPr>
          <p:cNvPr id="34" name="Group 20">
            <a:extLst>
              <a:ext uri="{FF2B5EF4-FFF2-40B4-BE49-F238E27FC236}">
                <a16:creationId xmlns:a16="http://schemas.microsoft.com/office/drawing/2014/main" id="{DF27B2C4-BCE3-67FB-5B13-83E5E5CE7F19}"/>
              </a:ext>
            </a:extLst>
          </p:cNvPr>
          <p:cNvGrpSpPr/>
          <p:nvPr/>
        </p:nvGrpSpPr>
        <p:grpSpPr>
          <a:xfrm>
            <a:off x="16043283" y="8202517"/>
            <a:ext cx="3725622" cy="3725622"/>
            <a:chOff x="0" y="0"/>
            <a:chExt cx="812800" cy="812800"/>
          </a:xfrm>
        </p:grpSpPr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4D74B14A-0E6B-9620-DBB8-D7B0C84C78B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50337B61-7F98-E7C0-2381-D6F3360FB8B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878AC17-3750-418C-9C29-2BA00AEAE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928"/>
            <a:ext cx="7138634" cy="10058400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721BA9E4-43AC-29D0-F25A-278F06C4FCA4}"/>
              </a:ext>
            </a:extLst>
          </p:cNvPr>
          <p:cNvSpPr txBox="1"/>
          <p:nvPr/>
        </p:nvSpPr>
        <p:spPr>
          <a:xfrm>
            <a:off x="1560018" y="3135764"/>
            <a:ext cx="4307382" cy="50638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>
              <a:lnSpc>
                <a:spcPts val="21782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F292BC"/>
                </a:solidFill>
                <a:latin typeface="Sniglet"/>
                <a:ea typeface="Sniglet"/>
                <a:cs typeface="Sniglet"/>
                <a:sym typeface="Sniglet"/>
              </a:rPr>
              <a:t>Client-side</a:t>
            </a:r>
          </a:p>
          <a:p>
            <a:pPr marL="685800" indent="-685800">
              <a:lnSpc>
                <a:spcPts val="21782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F292BC"/>
                </a:solidFill>
                <a:latin typeface="Sniglet"/>
                <a:ea typeface="Sniglet"/>
                <a:cs typeface="Sniglet"/>
                <a:sym typeface="Sniglet"/>
              </a:rPr>
              <a:t>Admin-side</a:t>
            </a:r>
          </a:p>
        </p:txBody>
      </p:sp>
      <p:sp>
        <p:nvSpPr>
          <p:cNvPr id="2" name="Freeform 24">
            <a:extLst>
              <a:ext uri="{FF2B5EF4-FFF2-40B4-BE49-F238E27FC236}">
                <a16:creationId xmlns:a16="http://schemas.microsoft.com/office/drawing/2014/main" id="{5BB96041-C910-5F0C-38D2-792571DDDF8D}"/>
              </a:ext>
            </a:extLst>
          </p:cNvPr>
          <p:cNvSpPr/>
          <p:nvPr/>
        </p:nvSpPr>
        <p:spPr>
          <a:xfrm>
            <a:off x="15266616" y="7120677"/>
            <a:ext cx="2639478" cy="2944651"/>
          </a:xfrm>
          <a:custGeom>
            <a:avLst/>
            <a:gdLst/>
            <a:ahLst/>
            <a:cxnLst/>
            <a:rect l="l" t="t" r="r" b="b"/>
            <a:pathLst>
              <a:path w="2639478" h="2944651">
                <a:moveTo>
                  <a:pt x="0" y="0"/>
                </a:moveTo>
                <a:lnTo>
                  <a:pt x="2639478" y="0"/>
                </a:lnTo>
                <a:lnTo>
                  <a:pt x="2639478" y="2944651"/>
                </a:lnTo>
                <a:lnTo>
                  <a:pt x="0" y="2944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24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6C302-2A3E-BE15-85DD-63153D63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0">
            <a:extLst>
              <a:ext uri="{FF2B5EF4-FFF2-40B4-BE49-F238E27FC236}">
                <a16:creationId xmlns:a16="http://schemas.microsoft.com/office/drawing/2014/main" id="{0E06F21F-403D-BE24-0324-DDDCDEA595D6}"/>
              </a:ext>
            </a:extLst>
          </p:cNvPr>
          <p:cNvSpPr txBox="1"/>
          <p:nvPr/>
        </p:nvSpPr>
        <p:spPr>
          <a:xfrm>
            <a:off x="1211671" y="720745"/>
            <a:ext cx="6713129" cy="1040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979"/>
              </a:lnSpc>
              <a:spcBef>
                <a:spcPct val="0"/>
              </a:spcBef>
            </a:pPr>
            <a:r>
              <a:rPr lang="en-US" sz="7599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Diagram</a:t>
            </a:r>
            <a:endParaRPr lang="en-US" sz="7599" u="none" strike="noStrike" dirty="0">
              <a:solidFill>
                <a:srgbClr val="339CB6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grpSp>
        <p:nvGrpSpPr>
          <p:cNvPr id="34" name="Group 20">
            <a:extLst>
              <a:ext uri="{FF2B5EF4-FFF2-40B4-BE49-F238E27FC236}">
                <a16:creationId xmlns:a16="http://schemas.microsoft.com/office/drawing/2014/main" id="{117544E1-32F8-AF75-ADB6-E54DFC5AD700}"/>
              </a:ext>
            </a:extLst>
          </p:cNvPr>
          <p:cNvGrpSpPr/>
          <p:nvPr/>
        </p:nvGrpSpPr>
        <p:grpSpPr>
          <a:xfrm>
            <a:off x="16043283" y="8202517"/>
            <a:ext cx="3725622" cy="3725622"/>
            <a:chOff x="0" y="0"/>
            <a:chExt cx="812800" cy="812800"/>
          </a:xfrm>
        </p:grpSpPr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87EAF6EE-E9A3-99BF-A8AF-BF5E2452256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7BCB7F22-2111-4780-8CEA-EF9B812F6D6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9CFCE9-DEA1-CB41-B266-FCD91D6DAECF}"/>
              </a:ext>
            </a:extLst>
          </p:cNvPr>
          <p:cNvSpPr txBox="1"/>
          <p:nvPr/>
        </p:nvSpPr>
        <p:spPr>
          <a:xfrm>
            <a:off x="4343400" y="9381589"/>
            <a:ext cx="8098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0" i="0" u="none" strike="noStrike" dirty="0">
                <a:solidFill>
                  <a:srgbClr val="444444"/>
                </a:solidFill>
                <a:effectLst/>
                <a:latin typeface="Inter"/>
                <a:hlinkClick r:id="rId2"/>
              </a:rPr>
              <a:t>https://app.swaggerhub.com/apis/student-c67-be7/api-safetrade-voucher/1.0.0</a:t>
            </a:r>
            <a:r>
              <a:rPr lang="en-IE" b="0" i="0" u="none" strike="noStrike" dirty="0">
                <a:solidFill>
                  <a:srgbClr val="444444"/>
                </a:solidFill>
                <a:effectLst/>
                <a:latin typeface="Inter"/>
              </a:rPr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05E79A-6681-47ED-7CA6-C27028A0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520" y="2504792"/>
            <a:ext cx="15392374" cy="5435767"/>
          </a:xfrm>
          <a:prstGeom prst="rect">
            <a:avLst/>
          </a:prstGeom>
        </p:spPr>
      </p:pic>
      <p:sp>
        <p:nvSpPr>
          <p:cNvPr id="8" name="Freeform 23">
            <a:extLst>
              <a:ext uri="{FF2B5EF4-FFF2-40B4-BE49-F238E27FC236}">
                <a16:creationId xmlns:a16="http://schemas.microsoft.com/office/drawing/2014/main" id="{E54390C5-D56E-DDE0-3E0D-ECB669B6F67F}"/>
              </a:ext>
            </a:extLst>
          </p:cNvPr>
          <p:cNvSpPr/>
          <p:nvPr/>
        </p:nvSpPr>
        <p:spPr>
          <a:xfrm flipH="1">
            <a:off x="-444991" y="6725353"/>
            <a:ext cx="4074025" cy="3629586"/>
          </a:xfrm>
          <a:custGeom>
            <a:avLst/>
            <a:gdLst/>
            <a:ahLst/>
            <a:cxnLst/>
            <a:rect l="l" t="t" r="r" b="b"/>
            <a:pathLst>
              <a:path w="4074025" h="3629586">
                <a:moveTo>
                  <a:pt x="4074025" y="0"/>
                </a:moveTo>
                <a:lnTo>
                  <a:pt x="0" y="0"/>
                </a:lnTo>
                <a:lnTo>
                  <a:pt x="0" y="3629586"/>
                </a:lnTo>
                <a:lnTo>
                  <a:pt x="4074025" y="3629586"/>
                </a:lnTo>
                <a:lnTo>
                  <a:pt x="407402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7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A8F67-FE0C-0045-0FB4-A1E0C0768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20">
            <a:extLst>
              <a:ext uri="{FF2B5EF4-FFF2-40B4-BE49-F238E27FC236}">
                <a16:creationId xmlns:a16="http://schemas.microsoft.com/office/drawing/2014/main" id="{8783C10B-EDFB-9A00-D7C5-F29074C2D2A2}"/>
              </a:ext>
            </a:extLst>
          </p:cNvPr>
          <p:cNvGrpSpPr/>
          <p:nvPr/>
        </p:nvGrpSpPr>
        <p:grpSpPr>
          <a:xfrm>
            <a:off x="-762000" y="8424189"/>
            <a:ext cx="3725622" cy="3725622"/>
            <a:chOff x="0" y="0"/>
            <a:chExt cx="812800" cy="812800"/>
          </a:xfrm>
        </p:grpSpPr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C18B3743-F9C4-EF28-1AA2-1548728F162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FB921B0C-C280-BED0-B8BA-953E85FEF3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2">
            <a:extLst>
              <a:ext uri="{FF2B5EF4-FFF2-40B4-BE49-F238E27FC236}">
                <a16:creationId xmlns:a16="http://schemas.microsoft.com/office/drawing/2014/main" id="{E6F925D0-7362-8652-5684-1C54DD13225B}"/>
              </a:ext>
            </a:extLst>
          </p:cNvPr>
          <p:cNvSpPr txBox="1"/>
          <p:nvPr/>
        </p:nvSpPr>
        <p:spPr>
          <a:xfrm>
            <a:off x="552506" y="458755"/>
            <a:ext cx="9505894" cy="1040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7979"/>
              </a:lnSpc>
              <a:spcBef>
                <a:spcPct val="0"/>
              </a:spcBef>
            </a:pPr>
            <a:r>
              <a:rPr lang="en-US" sz="7599" u="none" strike="noStrike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Scalability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D226D-FE11-8D48-BA60-8A418F88B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09" y="1943101"/>
            <a:ext cx="17372182" cy="7467600"/>
          </a:xfrm>
          <a:prstGeom prst="rect">
            <a:avLst/>
          </a:prstGeom>
        </p:spPr>
      </p:pic>
      <p:sp>
        <p:nvSpPr>
          <p:cNvPr id="6" name="Freeform 20">
            <a:extLst>
              <a:ext uri="{FF2B5EF4-FFF2-40B4-BE49-F238E27FC236}">
                <a16:creationId xmlns:a16="http://schemas.microsoft.com/office/drawing/2014/main" id="{D205F230-E1C9-ADE5-CCD4-B794F182230A}"/>
              </a:ext>
            </a:extLst>
          </p:cNvPr>
          <p:cNvSpPr/>
          <p:nvPr/>
        </p:nvSpPr>
        <p:spPr>
          <a:xfrm>
            <a:off x="15856096" y="-342270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291AA037-AA98-A1AB-6933-066AE643AE03}"/>
              </a:ext>
            </a:extLst>
          </p:cNvPr>
          <p:cNvSpPr/>
          <p:nvPr/>
        </p:nvSpPr>
        <p:spPr>
          <a:xfrm rot="15528377">
            <a:off x="14937964" y="112016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DCAC4-6DCC-0FDA-9F9D-F810882A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2">
            <a:extLst>
              <a:ext uri="{FF2B5EF4-FFF2-40B4-BE49-F238E27FC236}">
                <a16:creationId xmlns:a16="http://schemas.microsoft.com/office/drawing/2014/main" id="{2FC0F550-B30B-276E-6929-E22B45FCF018}"/>
              </a:ext>
            </a:extLst>
          </p:cNvPr>
          <p:cNvSpPr txBox="1"/>
          <p:nvPr/>
        </p:nvSpPr>
        <p:spPr>
          <a:xfrm>
            <a:off x="552506" y="458755"/>
            <a:ext cx="11106094" cy="1040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7979"/>
              </a:lnSpc>
              <a:spcBef>
                <a:spcPct val="0"/>
              </a:spcBef>
            </a:pPr>
            <a:r>
              <a:rPr lang="en-US" sz="7599" dirty="0" err="1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QRCode</a:t>
            </a:r>
            <a:r>
              <a:rPr lang="en-US" sz="7599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 API - Test</a:t>
            </a:r>
            <a:endParaRPr lang="en-US" sz="7599" u="none" strike="noStrike" dirty="0">
              <a:solidFill>
                <a:srgbClr val="339CB6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C5B968-4428-5AE4-B45D-28C815C0C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6" y="3924300"/>
            <a:ext cx="17623592" cy="4066981"/>
          </a:xfrm>
          <a:prstGeom prst="rect">
            <a:avLst/>
          </a:prstGeom>
        </p:spPr>
      </p:pic>
      <p:sp>
        <p:nvSpPr>
          <p:cNvPr id="5" name="Freeform 14">
            <a:extLst>
              <a:ext uri="{FF2B5EF4-FFF2-40B4-BE49-F238E27FC236}">
                <a16:creationId xmlns:a16="http://schemas.microsoft.com/office/drawing/2014/main" id="{74CD9202-D350-CF95-75D8-65C648D6A661}"/>
              </a:ext>
            </a:extLst>
          </p:cNvPr>
          <p:cNvSpPr/>
          <p:nvPr/>
        </p:nvSpPr>
        <p:spPr>
          <a:xfrm>
            <a:off x="13792200" y="458755"/>
            <a:ext cx="2874126" cy="2602391"/>
          </a:xfrm>
          <a:custGeom>
            <a:avLst/>
            <a:gdLst/>
            <a:ahLst/>
            <a:cxnLst/>
            <a:rect l="l" t="t" r="r" b="b"/>
            <a:pathLst>
              <a:path w="2874126" h="2602391">
                <a:moveTo>
                  <a:pt x="0" y="0"/>
                </a:moveTo>
                <a:lnTo>
                  <a:pt x="2874127" y="0"/>
                </a:lnTo>
                <a:lnTo>
                  <a:pt x="2874127" y="2602391"/>
                </a:lnTo>
                <a:lnTo>
                  <a:pt x="0" y="2602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16FF5-0618-34B2-FF94-9378985DFA1F}"/>
              </a:ext>
            </a:extLst>
          </p:cNvPr>
          <p:cNvSpPr txBox="1"/>
          <p:nvPr/>
        </p:nvSpPr>
        <p:spPr>
          <a:xfrm>
            <a:off x="317986" y="9029700"/>
            <a:ext cx="4587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https://heroic-nougat-c67308.netlify.app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518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E4D00-1910-2DA6-B3B4-1D50B179F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20">
            <a:extLst>
              <a:ext uri="{FF2B5EF4-FFF2-40B4-BE49-F238E27FC236}">
                <a16:creationId xmlns:a16="http://schemas.microsoft.com/office/drawing/2014/main" id="{F4A783F8-A3A3-F742-DE7D-1F2DDF2A2D50}"/>
              </a:ext>
            </a:extLst>
          </p:cNvPr>
          <p:cNvGrpSpPr/>
          <p:nvPr/>
        </p:nvGrpSpPr>
        <p:grpSpPr>
          <a:xfrm>
            <a:off x="16043283" y="8202517"/>
            <a:ext cx="3725622" cy="3725622"/>
            <a:chOff x="0" y="0"/>
            <a:chExt cx="812800" cy="812800"/>
          </a:xfrm>
        </p:grpSpPr>
        <p:sp>
          <p:nvSpPr>
            <p:cNvPr id="36" name="TextBox 22">
              <a:extLst>
                <a:ext uri="{FF2B5EF4-FFF2-40B4-BE49-F238E27FC236}">
                  <a16:creationId xmlns:a16="http://schemas.microsoft.com/office/drawing/2014/main" id="{C2EE0A8A-A60C-7464-F0D1-15552B0A78C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C0212137-73FD-84C7-AA9E-DC69B105BF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2">
            <a:extLst>
              <a:ext uri="{FF2B5EF4-FFF2-40B4-BE49-F238E27FC236}">
                <a16:creationId xmlns:a16="http://schemas.microsoft.com/office/drawing/2014/main" id="{0B2FAA99-5140-5D54-2F92-C1E142B12CE8}"/>
              </a:ext>
            </a:extLst>
          </p:cNvPr>
          <p:cNvSpPr txBox="1"/>
          <p:nvPr/>
        </p:nvSpPr>
        <p:spPr>
          <a:xfrm>
            <a:off x="552506" y="458755"/>
            <a:ext cx="13011094" cy="1040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7979"/>
              </a:lnSpc>
              <a:spcBef>
                <a:spcPct val="0"/>
              </a:spcBef>
            </a:pPr>
            <a:r>
              <a:rPr lang="en-US" sz="7599" u="none" strike="noStrike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Load Test – 20 VU for 5min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DA898-6E10-5464-EE51-F2BBC82D0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06" y="1611040"/>
            <a:ext cx="16326562" cy="849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3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1253718" y="4205218"/>
            <a:ext cx="8786882" cy="878688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1">
            <a:extLst>
              <a:ext uri="{FF2B5EF4-FFF2-40B4-BE49-F238E27FC236}">
                <a16:creationId xmlns:a16="http://schemas.microsoft.com/office/drawing/2014/main" id="{6A9DB7B1-E2D1-BDD5-C5DC-82BD7366E7AD}"/>
              </a:ext>
            </a:extLst>
          </p:cNvPr>
          <p:cNvSpPr/>
          <p:nvPr/>
        </p:nvSpPr>
        <p:spPr>
          <a:xfrm rot="14768431">
            <a:off x="15399626" y="-26492"/>
            <a:ext cx="1942268" cy="2789157"/>
          </a:xfrm>
          <a:custGeom>
            <a:avLst/>
            <a:gdLst/>
            <a:ahLst/>
            <a:cxnLst/>
            <a:rect l="l" t="t" r="r" b="b"/>
            <a:pathLst>
              <a:path w="1942268" h="2789157">
                <a:moveTo>
                  <a:pt x="0" y="0"/>
                </a:moveTo>
                <a:lnTo>
                  <a:pt x="1942268" y="0"/>
                </a:lnTo>
                <a:lnTo>
                  <a:pt x="1942268" y="2789157"/>
                </a:lnTo>
                <a:lnTo>
                  <a:pt x="0" y="2789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 descr="A screenshot of a test&#10;&#10;AI-generated content may be incorrect.">
            <a:extLst>
              <a:ext uri="{FF2B5EF4-FFF2-40B4-BE49-F238E27FC236}">
                <a16:creationId xmlns:a16="http://schemas.microsoft.com/office/drawing/2014/main" id="{8006C814-D7F7-9935-EAF1-56E69862B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3029202"/>
            <a:ext cx="17602200" cy="5772457"/>
          </a:xfrm>
          <a:prstGeom prst="rect">
            <a:avLst/>
          </a:prstGeom>
        </p:spPr>
      </p:pic>
      <p:sp>
        <p:nvSpPr>
          <p:cNvPr id="4" name="TextBox 22">
            <a:extLst>
              <a:ext uri="{FF2B5EF4-FFF2-40B4-BE49-F238E27FC236}">
                <a16:creationId xmlns:a16="http://schemas.microsoft.com/office/drawing/2014/main" id="{DDB688E3-993C-81F7-FBDA-29B6060D6288}"/>
              </a:ext>
            </a:extLst>
          </p:cNvPr>
          <p:cNvSpPr txBox="1"/>
          <p:nvPr/>
        </p:nvSpPr>
        <p:spPr>
          <a:xfrm>
            <a:off x="552506" y="458755"/>
            <a:ext cx="11106094" cy="1040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7979"/>
              </a:lnSpc>
              <a:spcBef>
                <a:spcPct val="0"/>
              </a:spcBef>
            </a:pPr>
            <a:r>
              <a:rPr lang="en-US" sz="7599" u="none" strike="noStrike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Pipeline – GitHub 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7222A-D432-DAAE-B436-1D714F51923A}"/>
              </a:ext>
            </a:extLst>
          </p:cNvPr>
          <p:cNvSpPr txBox="1"/>
          <p:nvPr/>
        </p:nvSpPr>
        <p:spPr>
          <a:xfrm>
            <a:off x="342900" y="9473622"/>
            <a:ext cx="8786882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https://github.com/sergio-oliveira-br/safetrade_admin_service/actions/runs/22593616259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4847096" y="4568466"/>
            <a:ext cx="3725764" cy="4114800"/>
          </a:xfrm>
          <a:custGeom>
            <a:avLst/>
            <a:gdLst/>
            <a:ahLst/>
            <a:cxnLst/>
            <a:rect l="l" t="t" r="r" b="b"/>
            <a:pathLst>
              <a:path w="3725764" h="4114800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464903" y="3699164"/>
            <a:ext cx="13358194" cy="217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595"/>
              </a:lnSpc>
              <a:spcBef>
                <a:spcPct val="0"/>
              </a:spcBef>
            </a:pPr>
            <a:r>
              <a:rPr lang="en-US" sz="15805" u="none" strike="noStrike" dirty="0">
                <a:solidFill>
                  <a:srgbClr val="339CB6"/>
                </a:solidFill>
                <a:latin typeface="Sniglet"/>
                <a:ea typeface="Sniglet"/>
                <a:cs typeface="Sniglet"/>
                <a:sym typeface="Sniglet"/>
              </a:rPr>
              <a:t>DEMO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85731" y="6359202"/>
            <a:ext cx="9516537" cy="332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900" u="sng" dirty="0">
                <a:latin typeface="Poppins" pitchFamily="2" charset="77"/>
                <a:cs typeface="Poppins" pitchFamily="2" charset="77"/>
                <a:hlinkClick r:id="rId3"/>
              </a:rPr>
              <a:t>http://ca-cpp-app-load-balancer-695619415.eu-west-1.elb.amazonaws.com</a:t>
            </a:r>
            <a:endParaRPr lang="en-US" sz="1900" dirty="0">
              <a:solidFill>
                <a:srgbClr val="1B444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8A343F9F-2F05-A753-EF76-CE8DA145B00B}"/>
              </a:ext>
            </a:extLst>
          </p:cNvPr>
          <p:cNvGrpSpPr/>
          <p:nvPr/>
        </p:nvGrpSpPr>
        <p:grpSpPr>
          <a:xfrm>
            <a:off x="-1143000" y="-666340"/>
            <a:ext cx="4247365" cy="3886200"/>
            <a:chOff x="0" y="0"/>
            <a:chExt cx="812800" cy="812800"/>
          </a:xfrm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20BA1A75-FDB4-90E5-EDB7-829B0C85B2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14">
              <a:extLst>
                <a:ext uri="{FF2B5EF4-FFF2-40B4-BE49-F238E27FC236}">
                  <a16:creationId xmlns:a16="http://schemas.microsoft.com/office/drawing/2014/main" id="{462EF3FF-261A-07EF-488B-AB467C9363F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15">
            <a:extLst>
              <a:ext uri="{FF2B5EF4-FFF2-40B4-BE49-F238E27FC236}">
                <a16:creationId xmlns:a16="http://schemas.microsoft.com/office/drawing/2014/main" id="{DC0B7C36-FFC5-EC6A-7FA5-262041C64F7C}"/>
              </a:ext>
            </a:extLst>
          </p:cNvPr>
          <p:cNvSpPr txBox="1"/>
          <p:nvPr/>
        </p:nvSpPr>
        <p:spPr>
          <a:xfrm>
            <a:off x="4393507" y="7333808"/>
            <a:ext cx="9516537" cy="332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900" u="sng" dirty="0">
                <a:latin typeface="Poppins" pitchFamily="2" charset="77"/>
                <a:cs typeface="Poppins" pitchFamily="2" charset="77"/>
                <a:hlinkClick r:id="rId3"/>
              </a:rPr>
              <a:t>http://ca-cpp-app-load-balancer-695619415.eu-west-1.elb.amazonaws.com</a:t>
            </a:r>
            <a:endParaRPr lang="en-US" sz="1900" dirty="0">
              <a:solidFill>
                <a:srgbClr val="1B444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152</Words>
  <Application>Microsoft Macintosh PowerPoint</Application>
  <PresentationFormat>Custom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Poppins</vt:lpstr>
      <vt:lpstr>Arial</vt:lpstr>
      <vt:lpstr>Calibri</vt:lpstr>
      <vt:lpstr>Inter</vt:lpstr>
      <vt:lpstr>Sniglet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Sergio Vinicio Da Silva Oliveira</cp:lastModifiedBy>
  <cp:revision>45</cp:revision>
  <dcterms:created xsi:type="dcterms:W3CDTF">2006-08-16T00:00:00Z</dcterms:created>
  <dcterms:modified xsi:type="dcterms:W3CDTF">2026-03-12T10:04:39Z</dcterms:modified>
  <dc:identifier>DAG4Bu8w1TY</dc:identifier>
</cp:coreProperties>
</file>